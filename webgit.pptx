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3" r:id="rId5"/>
    <p:sldId id="261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8779B2-775A-48D1-B2EC-BD6F2EDEC44E}" v="34" dt="2025-12-30T23:56:13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610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213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972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650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1494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604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92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43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14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338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53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060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4348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6262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267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4340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8359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0DD2A57-3EA4-40B5-99AB-0D5E550591B0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929CF02-62F5-4FA9-BD45-58D19D545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00855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35A1A-983D-51AC-14A4-35D8BFD7B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209" y="904301"/>
            <a:ext cx="9440034" cy="1828801"/>
          </a:xfrm>
        </p:spPr>
        <p:txBody>
          <a:bodyPr/>
          <a:lstStyle/>
          <a:p>
            <a:r>
              <a:rPr lang="tr-TR" dirty="0" err="1"/>
              <a:t>Pozitive</a:t>
            </a:r>
            <a:r>
              <a:rPr lang="tr-TR" dirty="0"/>
              <a:t>/</a:t>
            </a:r>
            <a:r>
              <a:rPr lang="tr-TR" dirty="0" err="1"/>
              <a:t>Negative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Text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202D38F-3ACC-141D-AF10-20A66BCF5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3209" y="3075032"/>
            <a:ext cx="9440034" cy="1049867"/>
          </a:xfrm>
        </p:spPr>
        <p:txBody>
          <a:bodyPr>
            <a:normAutofit fontScale="85000" lnSpcReduction="10000"/>
          </a:bodyPr>
          <a:lstStyle/>
          <a:p>
            <a:r>
              <a:rPr lang="tr-TR" dirty="0"/>
              <a:t>Course:SENG461</a:t>
            </a:r>
          </a:p>
          <a:p>
            <a:r>
              <a:rPr lang="tr-TR" dirty="0" err="1"/>
              <a:t>Group</a:t>
            </a:r>
            <a:r>
              <a:rPr lang="tr-TR" dirty="0"/>
              <a:t> </a:t>
            </a:r>
            <a:r>
              <a:rPr lang="tr-TR" dirty="0" err="1"/>
              <a:t>Members</a:t>
            </a:r>
            <a:r>
              <a:rPr lang="tr-TR" dirty="0"/>
              <a:t>: Hayrunnisa İlgün, Fatma Nur Kodak</a:t>
            </a:r>
          </a:p>
          <a:p>
            <a:r>
              <a:rPr lang="tr-TR" dirty="0"/>
              <a:t>Date:24.12.2025</a:t>
            </a:r>
          </a:p>
        </p:txBody>
      </p:sp>
    </p:spTree>
    <p:extLst>
      <p:ext uri="{BB962C8B-B14F-4D97-AF65-F5344CB8AC3E}">
        <p14:creationId xmlns:p14="http://schemas.microsoft.com/office/powerpoint/2010/main" val="392259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DDEBD970-50C7-AA1F-F3D6-F3E10196F1EC}"/>
              </a:ext>
            </a:extLst>
          </p:cNvPr>
          <p:cNvSpPr txBox="1"/>
          <p:nvPr/>
        </p:nvSpPr>
        <p:spPr>
          <a:xfrm>
            <a:off x="2614084" y="-96835"/>
            <a:ext cx="142076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b="1" dirty="0">
                <a:solidFill>
                  <a:schemeClr val="tx1">
                    <a:lumMod val="85000"/>
                  </a:schemeClr>
                </a:solidFill>
              </a:rPr>
            </a:br>
            <a:r>
              <a:rPr lang="en-US" sz="2800" b="1" dirty="0">
                <a:solidFill>
                  <a:schemeClr val="tx1">
                    <a:lumMod val="85000"/>
                  </a:schemeClr>
                </a:solidFill>
              </a:rPr>
              <a:t>Frontend–Backend Interaction (Workflow)</a:t>
            </a:r>
          </a:p>
        </p:txBody>
      </p:sp>
      <p:pic>
        <p:nvPicPr>
          <p:cNvPr id="8" name="Resim 7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999D5C0-B278-CC72-7EF2-BCB6E56EA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568" y="878855"/>
            <a:ext cx="7947852" cy="4236130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01CF1A1-718F-78A1-6536-723F63576DB0}"/>
              </a:ext>
            </a:extLst>
          </p:cNvPr>
          <p:cNvSpPr txBox="1"/>
          <p:nvPr/>
        </p:nvSpPr>
        <p:spPr>
          <a:xfrm>
            <a:off x="343158" y="703384"/>
            <a:ext cx="371788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Backend Architecture</a:t>
            </a:r>
          </a:p>
          <a:p>
            <a:pPr>
              <a:buNone/>
            </a:pPr>
            <a:r>
              <a:rPr lang="en-US" sz="1400" dirty="0"/>
              <a:t>The backend of the application is developed using </a:t>
            </a:r>
            <a:r>
              <a:rPr lang="en-US" sz="1400" b="1" dirty="0"/>
              <a:t>Flask</a:t>
            </a:r>
            <a:r>
              <a:rPr lang="en-US" sz="1400" dirty="0"/>
              <a:t>, a lightweight Python web framework. It is responsible for handling client requests, processing input data, and returning sentiment analysis results in a structured format.</a:t>
            </a:r>
          </a:p>
          <a:p>
            <a:pPr>
              <a:buNone/>
            </a:pPr>
            <a:r>
              <a:rPr lang="en-US" sz="1400" dirty="0"/>
              <a:t>When the application starts, a </a:t>
            </a:r>
            <a:r>
              <a:rPr lang="en-US" sz="1400" b="1" dirty="0"/>
              <a:t>pre-trained BERT-based sentiment analysis model</a:t>
            </a:r>
            <a:r>
              <a:rPr lang="en-US" sz="1400" dirty="0"/>
              <a:t> is loaded once using the Transformers library. Loading the model at startup improves performance by avoiding repeated initialization for each request.</a:t>
            </a:r>
          </a:p>
          <a:p>
            <a:pPr>
              <a:buNone/>
            </a:pPr>
            <a:r>
              <a:rPr lang="en-US" sz="1400" dirty="0"/>
              <a:t>The backend exposes a </a:t>
            </a:r>
            <a:r>
              <a:rPr lang="en-US" sz="1400" b="1" dirty="0"/>
              <a:t>RESTful POST endpoint</a:t>
            </a:r>
            <a:r>
              <a:rPr lang="en-US" sz="1400" dirty="0"/>
              <a:t> that receives user input in JSON format. The request must include a </a:t>
            </a:r>
            <a:r>
              <a:rPr lang="en-US" sz="1400" dirty="0">
                <a:latin typeface="Courier New" panose="02070309020205020404" pitchFamily="49" charset="0"/>
              </a:rPr>
              <a:t>text</a:t>
            </a:r>
            <a:r>
              <a:rPr lang="en-US" sz="1400" dirty="0"/>
              <a:t> field containing the text to be analyzed. If the required data is missing, the backend returns an appropriate error response.</a:t>
            </a:r>
          </a:p>
          <a:p>
            <a:pPr>
              <a:buNone/>
            </a:pPr>
            <a:r>
              <a:rPr lang="en-US" sz="1400" dirty="0"/>
              <a:t>After receiving valid input, the text is passed to the sentiment analysis pipeline. The model processes the text and predicts the sentiment label along with a confidence score. These results are then formatted into a JSON response and sent back to the client.</a:t>
            </a:r>
          </a:p>
          <a:p>
            <a:pPr>
              <a:buNone/>
            </a:pPr>
            <a:r>
              <a:rPr lang="en-US" sz="1400" dirty="0"/>
              <a:t>This backend architecture ensures </a:t>
            </a:r>
            <a:r>
              <a:rPr lang="en-US" sz="1400" b="1" dirty="0"/>
              <a:t>efficient request handling, modular design, and scalable sentiment analysis functionality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377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C8B081-FD65-F393-BDA7-2C1B5F7A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3937" y="-68826"/>
            <a:ext cx="10353762" cy="970450"/>
          </a:xfrm>
        </p:spPr>
        <p:txBody>
          <a:bodyPr/>
          <a:lstStyle/>
          <a:p>
            <a:r>
              <a:rPr lang="tr-TR" b="1" dirty="0" err="1"/>
              <a:t>Backend</a:t>
            </a:r>
            <a:r>
              <a:rPr lang="tr-TR" b="1" dirty="0"/>
              <a:t> Architecture</a:t>
            </a:r>
          </a:p>
        </p:txBody>
      </p:sp>
      <p:pic>
        <p:nvPicPr>
          <p:cNvPr id="5" name="İçerik Yer Tutucusu 4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EC2153F-AD55-93DF-4512-6D59C0DDC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208" y="295766"/>
            <a:ext cx="4053781" cy="4059237"/>
          </a:xfrm>
        </p:spPr>
      </p:pic>
      <p:pic>
        <p:nvPicPr>
          <p:cNvPr id="7" name="Resim 6" descr="metin, ekran görüntüsü, yazı tipi içeren bir resim">
            <a:extLst>
              <a:ext uri="{FF2B5EF4-FFF2-40B4-BE49-F238E27FC236}">
                <a16:creationId xmlns:a16="http://schemas.microsoft.com/office/drawing/2014/main" id="{9AE75BEF-9FA5-CE8D-BC11-2CE0CACA9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394" y="4355003"/>
            <a:ext cx="4087664" cy="2035333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A1DF6A88-DD71-53D1-5D35-A0DA53A52D8A}"/>
              </a:ext>
            </a:extLst>
          </p:cNvPr>
          <p:cNvSpPr txBox="1"/>
          <p:nvPr/>
        </p:nvSpPr>
        <p:spPr>
          <a:xfrm>
            <a:off x="286942" y="1115961"/>
            <a:ext cx="71283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backend of the application is developed using </a:t>
            </a:r>
            <a:r>
              <a:rPr lang="en-US" b="1" dirty="0"/>
              <a:t>Flask</a:t>
            </a:r>
            <a:r>
              <a:rPr lang="en-US" dirty="0"/>
              <a:t>, a lightweight Python web framework. It is responsible for handling client requests, processing input data, and returning sentiment analysis results in a structured format.</a:t>
            </a:r>
          </a:p>
          <a:p>
            <a:r>
              <a:rPr lang="en-US" dirty="0"/>
              <a:t>When the application starts, a </a:t>
            </a:r>
            <a:r>
              <a:rPr lang="en-US" b="1" dirty="0"/>
              <a:t>pre-trained BERT-based sentiment analysis model</a:t>
            </a:r>
            <a:r>
              <a:rPr lang="en-US" dirty="0"/>
              <a:t> is loaded once using the Transformers library. Loading the model at startup improves performance by avoiding repeated initialization for each request.</a:t>
            </a:r>
          </a:p>
          <a:p>
            <a:r>
              <a:rPr lang="en-US" dirty="0"/>
              <a:t>The backend exposes a </a:t>
            </a:r>
            <a:r>
              <a:rPr lang="en-US" b="1" dirty="0"/>
              <a:t>RESTful POST endpoint</a:t>
            </a:r>
            <a:r>
              <a:rPr lang="en-US" dirty="0"/>
              <a:t> that receives user input in JSON format. The request must include a text field containing the text to be analyzed. If the required data is missing, the backend returns an appropriate error response.</a:t>
            </a:r>
          </a:p>
          <a:p>
            <a:r>
              <a:rPr lang="en-US" dirty="0"/>
              <a:t>After receiving valid input, the text is passed to the sentiment analysis pipeline. The model processes the text and predicts the sentiment label along with a confidence score. These results are then formatted into a JSON response and sent back to the client.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2317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24CEB6-523A-A0CD-AC44-2A54E435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Git </a:t>
            </a:r>
            <a:r>
              <a:rPr lang="tr-TR" b="1" dirty="0" err="1"/>
              <a:t>history</a:t>
            </a:r>
            <a:r>
              <a:rPr lang="tr-TR" b="1" dirty="0"/>
              <a:t> / </a:t>
            </a:r>
            <a:r>
              <a:rPr lang="tr-TR" b="1" dirty="0" err="1"/>
              <a:t>commit</a:t>
            </a:r>
            <a:endParaRPr lang="tr-TR" b="1" dirty="0"/>
          </a:p>
        </p:txBody>
      </p:sp>
      <p:pic>
        <p:nvPicPr>
          <p:cNvPr id="6" name="İçerik Yer Tutucusu 5" descr="metin, ekran görüntüsü, yazılım, multimedya yazılımı içeren bir resim">
            <a:extLst>
              <a:ext uri="{FF2B5EF4-FFF2-40B4-BE49-F238E27FC236}">
                <a16:creationId xmlns:a16="http://schemas.microsoft.com/office/drawing/2014/main" id="{E605DE3D-C316-D5B7-799B-237B17D1A8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050"/>
            <a:ext cx="3216165" cy="3743816"/>
          </a:xfrm>
        </p:spPr>
      </p:pic>
      <p:pic>
        <p:nvPicPr>
          <p:cNvPr id="8" name="İçerik Yer Tutucusu 7" descr="metin, ekran görüntüsü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4956104-C5D9-9EE9-684A-B458259798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332" y="1580050"/>
            <a:ext cx="5121659" cy="4221730"/>
          </a:xfrm>
        </p:spPr>
      </p:pic>
      <p:pic>
        <p:nvPicPr>
          <p:cNvPr id="10" name="Resim 9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71F66D1-C1A8-CAE9-E7CC-7306D5E1E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340" y="1580050"/>
            <a:ext cx="2645817" cy="501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4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31F4B4-6058-B792-29A1-31EF5FC9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Sentiment</a:t>
            </a:r>
            <a:r>
              <a:rPr lang="tr-TR" dirty="0"/>
              <a:t> Analysis Web Application</a:t>
            </a:r>
          </a:p>
        </p:txBody>
      </p:sp>
      <p:pic>
        <p:nvPicPr>
          <p:cNvPr id="6" name="İçerik Yer Tutucusu 5" descr="metin, ekran görüntüsü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DA9DB0C-4005-7BF9-BF69-0230615B8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4002" y="1652239"/>
            <a:ext cx="6995375" cy="3677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EC3BE79A-4A6C-E451-5AD9-DB6E908495EA}"/>
              </a:ext>
            </a:extLst>
          </p:cNvPr>
          <p:cNvSpPr txBox="1"/>
          <p:nvPr/>
        </p:nvSpPr>
        <p:spPr>
          <a:xfrm>
            <a:off x="601579" y="1353552"/>
            <a:ext cx="2747210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This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interface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represents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a 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Positive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/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Negative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Sentence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Analysis web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application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br>
              <a:rPr lang="tr-TR" sz="1600" dirty="0">
                <a:ea typeface="+mn-lt"/>
                <a:cs typeface="+mn-lt"/>
              </a:rPr>
            </a:b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user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enters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sentence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into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input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area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on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left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and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system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analyzes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emotional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polarity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of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text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using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sentiment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analysis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model.</a:t>
            </a:r>
            <a:endParaRPr lang="tr-TR" sz="1600" dirty="0"/>
          </a:p>
          <a:p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result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is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displayed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on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right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side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with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a 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clear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sentiment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label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(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Positive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or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Negative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) 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and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corresponding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visual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emoji,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providing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immediate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and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intuitive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feedback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br>
              <a:rPr lang="tr-TR" sz="1600" dirty="0">
                <a:ea typeface="+mn-lt"/>
                <a:cs typeface="+mn-lt"/>
              </a:rPr>
            </a:b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soft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pastel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color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palette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and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transparent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cards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enhance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readability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while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keeping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the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focus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on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user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interaction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and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tr-TR" sz="1600" err="1">
                <a:solidFill>
                  <a:srgbClr val="FFFFFF"/>
                </a:solidFill>
                <a:ea typeface="+mn-lt"/>
                <a:cs typeface="+mn-lt"/>
              </a:rPr>
              <a:t>results</a:t>
            </a:r>
            <a:r>
              <a:rPr lang="tr-TR" sz="160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  <a:endParaRPr lang="tr-TR" sz="1600" dirty="0"/>
          </a:p>
          <a:p>
            <a:pPr algn="l"/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43341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05AEEE-9F2E-D5C3-7E09-DA1DE15D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 descr="metin, ekran görüntüsü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3551325-56EB-87CE-DCC2-A2E8B0C5B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834" y="1157355"/>
            <a:ext cx="6524894" cy="342614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5" name="Resim 4" descr="metin, ekran görüntüsü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47E5AA6-E594-C53C-4DDD-A45F817A3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075" y="2820968"/>
            <a:ext cx="6642340" cy="35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0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4A4023-0FCD-BC1E-BBE4-F6AEB397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Git Branching &amp; Version Control Workflow</a:t>
            </a:r>
            <a:b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endParaRPr lang="tr-TR" dirty="0"/>
          </a:p>
        </p:txBody>
      </p:sp>
      <p:pic>
        <p:nvPicPr>
          <p:cNvPr id="4" name="İçerik Yer Tutucusu 3" descr="metin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9756C9A-9C1A-B8A7-1AC5-A92A973F9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8487" y="1732449"/>
            <a:ext cx="9244379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2433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urşun Rengi">
  <a:themeElements>
    <a:clrScheme name="Kurşun Rengi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Kurşun Rengi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urşun Rengi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TM04033929[[fn=Kurşun Rengi]]</Template>
  <TotalTime>69</TotalTime>
  <Words>392</Words>
  <Application>Microsoft Office PowerPoint</Application>
  <PresentationFormat>Geniş ekran</PresentationFormat>
  <Paragraphs>19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8" baseType="lpstr">
      <vt:lpstr>Kurşun Rengi</vt:lpstr>
      <vt:lpstr>Pozitive/Negative Detection from Text</vt:lpstr>
      <vt:lpstr>PowerPoint Sunusu</vt:lpstr>
      <vt:lpstr>Backend Architecture</vt:lpstr>
      <vt:lpstr>Git history / commit</vt:lpstr>
      <vt:lpstr>Sentiment Analysis Web Application</vt:lpstr>
      <vt:lpstr>PowerPoint Sunusu</vt:lpstr>
      <vt:lpstr> Git Branching &amp; Version Control Workflow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Hayrunnisa Ilgün</dc:creator>
  <cp:lastModifiedBy>Hayrunnisa Ilgün</cp:lastModifiedBy>
  <cp:revision>22</cp:revision>
  <dcterms:created xsi:type="dcterms:W3CDTF">2025-12-22T15:22:53Z</dcterms:created>
  <dcterms:modified xsi:type="dcterms:W3CDTF">2025-12-30T23:56:47Z</dcterms:modified>
</cp:coreProperties>
</file>